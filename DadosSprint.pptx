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6858000" cy="9144000"/>
  <p:embeddedFontLst>
    <p:embeddedFont>
      <p:font typeface="Libre Franklin" pitchFamily="2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</p:embeddedFont>
    <p:embeddedFont>
      <p:font typeface="Open Sans" panose="020B0606030504020204" pitchFamily="34" charset="0"/>
      <p:regular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  <p:embeddedFont>
      <p:font typeface="Sofia Sans" panose="020B0604020202020204" charset="0"/>
      <p:regular r:id="rId34"/>
      <p:bold r:id="rId35"/>
      <p:italic r:id="rId36"/>
      <p:boldItalic r:id="rId37"/>
    </p:embeddedFont>
    <p:embeddedFont>
      <p:font typeface="Sofia Sans SemiBold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C7DFD6-1C44-41D4-8F65-54C3BD7765AF}">
  <a:tblStyle styleId="{0BC7DFD6-1C44-41D4-8F65-54C3BD7765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5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87b6de8b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87b6de8b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dd7819e8f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dd7819e8f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dd7819e8f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5dd7819e8f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dd7819e8f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dd7819e8f_1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dd7819e8f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dd7819e8f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5dd7819e8f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5dd7819e8f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5dd7819e8f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5dd7819e8f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dd7819e8f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dd7819e8f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5dd7819e8f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5dd7819e8f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5dd7819e8f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5dd7819e8f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5dd7819e8f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5dd7819e8f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5dd7819e8f_1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5dd7819e8f_1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89f1334454_0_37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89f1334454_0_37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15" name="Google Shape;15;p2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73225" y="2218913"/>
            <a:ext cx="38577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5764825" y="1297988"/>
            <a:ext cx="1474500" cy="8418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2" name="Google Shape;22;p3"/>
          <p:cNvGrpSpPr/>
          <p:nvPr/>
        </p:nvGrpSpPr>
        <p:grpSpPr>
          <a:xfrm>
            <a:off x="7814275" y="386450"/>
            <a:ext cx="855450" cy="4590600"/>
            <a:chOff x="7814275" y="386450"/>
            <a:chExt cx="855450" cy="4590600"/>
          </a:xfrm>
        </p:grpSpPr>
        <p:sp>
          <p:nvSpPr>
            <p:cNvPr id="23" name="Google Shape;23;p3"/>
            <p:cNvSpPr/>
            <p:nvPr/>
          </p:nvSpPr>
          <p:spPr>
            <a:xfrm>
              <a:off x="7814275" y="475025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8518225" y="43211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8166250" y="3864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8518225" y="10922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" name="Google Shape;27;p3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1342075" y="3255050"/>
            <a:ext cx="3012600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342075" y="1592327"/>
            <a:ext cx="3012600" cy="121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342076" y="1222988"/>
            <a:ext cx="3012600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1342076" y="2886309"/>
            <a:ext cx="3012600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47" name="Google Shape;47;p5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5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" name="Google Shape;49;p5"/>
          <p:cNvGrpSpPr/>
          <p:nvPr/>
        </p:nvGrpSpPr>
        <p:grpSpPr>
          <a:xfrm>
            <a:off x="462875" y="198225"/>
            <a:ext cx="8973075" cy="3528450"/>
            <a:chOff x="462875" y="198225"/>
            <a:chExt cx="8973075" cy="3528450"/>
          </a:xfrm>
        </p:grpSpPr>
        <p:sp>
          <p:nvSpPr>
            <p:cNvPr id="50" name="Google Shape;50;p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0800000">
              <a:off x="8849150" y="107690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 rot="10800000">
              <a:off x="462875" y="364867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 rot="10800000">
            <a:off x="-100" y="-9725"/>
            <a:ext cx="9146700" cy="5143500"/>
            <a:chOff x="41600" y="-9725"/>
            <a:chExt cx="9146700" cy="5143500"/>
          </a:xfrm>
        </p:grpSpPr>
        <p:cxnSp>
          <p:nvCxnSpPr>
            <p:cNvPr id="56" name="Google Shape;56;p6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6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" name="Google Shape;58;p6"/>
          <p:cNvSpPr/>
          <p:nvPr/>
        </p:nvSpPr>
        <p:spPr>
          <a:xfrm rot="10800000" flipH="1">
            <a:off x="-3696100" y="4797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59" name="Google Shape;59;p6"/>
          <p:cNvGrpSpPr/>
          <p:nvPr/>
        </p:nvGrpSpPr>
        <p:grpSpPr>
          <a:xfrm>
            <a:off x="236675" y="789100"/>
            <a:ext cx="8531575" cy="4725575"/>
            <a:chOff x="236675" y="789100"/>
            <a:chExt cx="8531575" cy="4725575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236675" y="789100"/>
              <a:ext cx="8531575" cy="4226125"/>
              <a:chOff x="236675" y="789100"/>
              <a:chExt cx="8531575" cy="4226125"/>
            </a:xfrm>
          </p:grpSpPr>
          <p:grpSp>
            <p:nvGrpSpPr>
              <p:cNvPr id="61" name="Google Shape;61;p6"/>
              <p:cNvGrpSpPr/>
              <p:nvPr/>
            </p:nvGrpSpPr>
            <p:grpSpPr>
              <a:xfrm>
                <a:off x="236675" y="789100"/>
                <a:ext cx="6388575" cy="4226125"/>
                <a:chOff x="236675" y="789100"/>
                <a:chExt cx="6388575" cy="4226125"/>
              </a:xfrm>
            </p:grpSpPr>
            <p:sp>
              <p:nvSpPr>
                <p:cNvPr id="62" name="Google Shape;62;p6"/>
                <p:cNvSpPr/>
                <p:nvPr/>
              </p:nvSpPr>
              <p:spPr>
                <a:xfrm>
                  <a:off x="236675" y="4630050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3" name="Google Shape;63;p6"/>
                <p:cNvSpPr/>
                <p:nvPr/>
              </p:nvSpPr>
              <p:spPr>
                <a:xfrm>
                  <a:off x="297650" y="789100"/>
                  <a:ext cx="226800" cy="2268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4" name="Google Shape;64;p6"/>
                <p:cNvSpPr/>
                <p:nvPr/>
              </p:nvSpPr>
              <p:spPr>
                <a:xfrm>
                  <a:off x="6473750" y="4785725"/>
                  <a:ext cx="151500" cy="1515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  <p:sp>
              <p:nvSpPr>
                <p:cNvPr id="65" name="Google Shape;65;p6"/>
                <p:cNvSpPr/>
                <p:nvPr/>
              </p:nvSpPr>
              <p:spPr>
                <a:xfrm>
                  <a:off x="4024150" y="4937225"/>
                  <a:ext cx="78300" cy="780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ibre Franklin"/>
                    <a:ea typeface="Libre Franklin"/>
                    <a:cs typeface="Libre Franklin"/>
                    <a:sym typeface="Libre Franklin"/>
                  </a:endParaRPr>
                </a:p>
              </p:txBody>
            </p:sp>
          </p:grpSp>
          <p:sp>
            <p:nvSpPr>
              <p:cNvPr id="66" name="Google Shape;66;p6"/>
              <p:cNvSpPr/>
              <p:nvPr/>
            </p:nvSpPr>
            <p:spPr>
              <a:xfrm rot="10800000">
                <a:off x="463475" y="1846000"/>
                <a:ext cx="78300" cy="780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  <p:sp>
            <p:nvSpPr>
              <p:cNvPr id="67" name="Google Shape;67;p6"/>
              <p:cNvSpPr/>
              <p:nvPr/>
            </p:nvSpPr>
            <p:spPr>
              <a:xfrm rot="10800000">
                <a:off x="8616750" y="3611975"/>
                <a:ext cx="151500" cy="1515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ibre Franklin"/>
                  <a:ea typeface="Libre Franklin"/>
                  <a:cs typeface="Libre Franklin"/>
                  <a:sym typeface="Libre Franklin"/>
                </a:endParaRPr>
              </a:p>
            </p:txBody>
          </p:sp>
        </p:grpSp>
        <p:sp>
          <p:nvSpPr>
            <p:cNvPr id="68" name="Google Shape;68;p6"/>
            <p:cNvSpPr/>
            <p:nvPr/>
          </p:nvSpPr>
          <p:spPr>
            <a:xfrm>
              <a:off x="2129850" y="492787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832975" y="820375"/>
            <a:ext cx="3945300" cy="9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832975" y="1779100"/>
            <a:ext cx="3945300" cy="24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5197850" y="150"/>
            <a:ext cx="3084600" cy="51435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3" name="Google Shape;73;p7"/>
          <p:cNvGrpSpPr/>
          <p:nvPr/>
        </p:nvGrpSpPr>
        <p:grpSpPr>
          <a:xfrm>
            <a:off x="466325" y="297350"/>
            <a:ext cx="8869225" cy="4942950"/>
            <a:chOff x="466325" y="297350"/>
            <a:chExt cx="8869225" cy="4942950"/>
          </a:xfrm>
        </p:grpSpPr>
        <p:sp>
          <p:nvSpPr>
            <p:cNvPr id="74" name="Google Shape;74;p7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 flipH="1">
              <a:off x="8870550" y="4775300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 rot="10800000" flipH="1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80" name="Google Shape;80;p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6863521" y="2951897"/>
            <a:ext cx="2316450" cy="2212375"/>
            <a:chOff x="7507625" y="2942125"/>
            <a:chExt cx="2316450" cy="2212375"/>
          </a:xfrm>
        </p:grpSpPr>
        <p:sp>
          <p:nvSpPr>
            <p:cNvPr id="85" name="Google Shape;85;p8"/>
            <p:cNvSpPr/>
            <p:nvPr/>
          </p:nvSpPr>
          <p:spPr>
            <a:xfrm flipH="1">
              <a:off x="7507625" y="49277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9452600" y="38847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407600" y="49653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9551375" y="29421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9359075" y="425717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 rot="10800000" flipH="1">
            <a:off x="-8429" y="-9725"/>
            <a:ext cx="9188400" cy="5153273"/>
            <a:chOff x="-100" y="-9725"/>
            <a:chExt cx="9188400" cy="5143500"/>
          </a:xfrm>
        </p:grpSpPr>
        <p:cxnSp>
          <p:nvCxnSpPr>
            <p:cNvPr id="91" name="Google Shape;91;p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97" name="Google Shape;97;p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2" name="Google Shape;102;p9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03" name="Google Shape;103;p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93550"/>
            <a:ext cx="3841500" cy="10593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1"/>
          </p:nvPr>
        </p:nvSpPr>
        <p:spPr>
          <a:xfrm>
            <a:off x="713225" y="2852850"/>
            <a:ext cx="3841500" cy="4971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12" name="Google Shape;112;p1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480883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2914291"/>
            <a:ext cx="734700" cy="447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"/>
          </p:nvPr>
        </p:nvSpPr>
        <p:spPr>
          <a:xfrm>
            <a:off x="720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8"/>
          </p:nvPr>
        </p:nvSpPr>
        <p:spPr>
          <a:xfrm>
            <a:off x="3306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9"/>
          </p:nvPr>
        </p:nvSpPr>
        <p:spPr>
          <a:xfrm>
            <a:off x="5892000" y="1959025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3"/>
          </p:nvPr>
        </p:nvSpPr>
        <p:spPr>
          <a:xfrm>
            <a:off x="720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4"/>
          </p:nvPr>
        </p:nvSpPr>
        <p:spPr>
          <a:xfrm>
            <a:off x="3306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5"/>
          </p:nvPr>
        </p:nvSpPr>
        <p:spPr>
          <a:xfrm>
            <a:off x="5892000" y="3391139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-3639025" y="-1269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162425" y="53900"/>
            <a:ext cx="8613450" cy="4786650"/>
            <a:chOff x="162425" y="53900"/>
            <a:chExt cx="8613450" cy="4786650"/>
          </a:xfrm>
        </p:grpSpPr>
        <p:sp>
          <p:nvSpPr>
            <p:cNvPr id="131" name="Google Shape;131;p13"/>
            <p:cNvSpPr/>
            <p:nvPr/>
          </p:nvSpPr>
          <p:spPr>
            <a:xfrm flipH="1">
              <a:off x="872475" y="539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 flipH="1">
              <a:off x="7762250" y="4689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 flipH="1">
              <a:off x="7686050" y="1292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 flipH="1">
              <a:off x="8624375" y="19284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162425" y="34569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37" name="Google Shape;137;p1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522675" y="-387112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42" name="Google Shape;142;p14"/>
          <p:cNvGrpSpPr/>
          <p:nvPr/>
        </p:nvGrpSpPr>
        <p:grpSpPr>
          <a:xfrm>
            <a:off x="-100" y="0"/>
            <a:ext cx="9146700" cy="5146800"/>
            <a:chOff x="41600" y="-13048"/>
            <a:chExt cx="9146700" cy="5146800"/>
          </a:xfrm>
        </p:grpSpPr>
        <p:cxnSp>
          <p:nvCxnSpPr>
            <p:cNvPr id="143" name="Google Shape;143;p14"/>
            <p:cNvCxnSpPr/>
            <p:nvPr/>
          </p:nvCxnSpPr>
          <p:spPr>
            <a:xfrm>
              <a:off x="272250" y="-13048"/>
              <a:ext cx="0" cy="5146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Google Shape;144;p14"/>
            <p:cNvCxnSpPr/>
            <p:nvPr/>
          </p:nvCxnSpPr>
          <p:spPr>
            <a:xfrm rot="10800000">
              <a:off x="41600" y="4928275"/>
              <a:ext cx="9146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" name="Google Shape;145;p14"/>
          <p:cNvGrpSpPr/>
          <p:nvPr/>
        </p:nvGrpSpPr>
        <p:grpSpPr>
          <a:xfrm>
            <a:off x="423675" y="160575"/>
            <a:ext cx="8587500" cy="4242950"/>
            <a:chOff x="423675" y="160575"/>
            <a:chExt cx="8587500" cy="4242950"/>
          </a:xfrm>
        </p:grpSpPr>
        <p:sp>
          <p:nvSpPr>
            <p:cNvPr id="146" name="Google Shape;146;p1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 rot="10800000">
              <a:off x="8784375" y="30642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 rot="10800000">
              <a:off x="8822025" y="3901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 rot="10800000">
              <a:off x="7876950" y="23497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0" name="Google Shape;150;p14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10800000">
              <a:off x="1957550" y="1605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 rot="10800000">
              <a:off x="423675" y="40525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 rot="10800000">
              <a:off x="8784375" y="432552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3810475" y="1270625"/>
            <a:ext cx="46203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ubTitle" idx="1"/>
          </p:nvPr>
        </p:nvSpPr>
        <p:spPr>
          <a:xfrm>
            <a:off x="3810475" y="1810075"/>
            <a:ext cx="4620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57" name="Google Shape;157;p15"/>
          <p:cNvGrpSpPr/>
          <p:nvPr/>
        </p:nvGrpSpPr>
        <p:grpSpPr>
          <a:xfrm>
            <a:off x="236675" y="198225"/>
            <a:ext cx="8699200" cy="3897525"/>
            <a:chOff x="236675" y="198225"/>
            <a:chExt cx="8699200" cy="3897525"/>
          </a:xfrm>
        </p:grpSpPr>
        <p:sp>
          <p:nvSpPr>
            <p:cNvPr id="158" name="Google Shape;158;p15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 rot="10800000">
              <a:off x="237725" y="2699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 rot="10800000">
              <a:off x="236675" y="40177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13225" y="2571750"/>
            <a:ext cx="2463000" cy="10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1"/>
          </p:nvPr>
        </p:nvSpPr>
        <p:spPr>
          <a:xfrm>
            <a:off x="713225" y="3503243"/>
            <a:ext cx="2463000" cy="10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>
            <a:spLocks noGrp="1"/>
          </p:cNvSpPr>
          <p:nvPr>
            <p:ph type="pic" idx="2"/>
          </p:nvPr>
        </p:nvSpPr>
        <p:spPr>
          <a:xfrm>
            <a:off x="6896850" y="742950"/>
            <a:ext cx="2267100" cy="3657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6"/>
          <p:cNvSpPr>
            <a:spLocks noGrp="1"/>
          </p:cNvSpPr>
          <p:nvPr>
            <p:ph type="pic" idx="3"/>
          </p:nvPr>
        </p:nvSpPr>
        <p:spPr>
          <a:xfrm>
            <a:off x="5093225" y="742950"/>
            <a:ext cx="1607700" cy="3657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6"/>
          <p:cNvSpPr>
            <a:spLocks noGrp="1"/>
          </p:cNvSpPr>
          <p:nvPr>
            <p:ph type="pic" idx="4"/>
          </p:nvPr>
        </p:nvSpPr>
        <p:spPr>
          <a:xfrm>
            <a:off x="713150" y="742950"/>
            <a:ext cx="4184100" cy="1554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67" name="Google Shape;167;p16"/>
          <p:cNvGrpSpPr/>
          <p:nvPr/>
        </p:nvGrpSpPr>
        <p:grpSpPr>
          <a:xfrm rot="10800000"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68" name="Google Shape;168;p16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16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0" name="Google Shape;170;p16"/>
          <p:cNvSpPr/>
          <p:nvPr/>
        </p:nvSpPr>
        <p:spPr>
          <a:xfrm rot="10800000">
            <a:off x="2843775" y="4756800"/>
            <a:ext cx="226800" cy="22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1"/>
          </p:nvPr>
        </p:nvSpPr>
        <p:spPr>
          <a:xfrm>
            <a:off x="937625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2"/>
          </p:nvPr>
        </p:nvSpPr>
        <p:spPr>
          <a:xfrm>
            <a:off x="3484347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6031075" y="204331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4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ubTitle" idx="5"/>
          </p:nvPr>
        </p:nvSpPr>
        <p:spPr>
          <a:xfrm>
            <a:off x="3484350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6"/>
          </p:nvPr>
        </p:nvSpPr>
        <p:spPr>
          <a:xfrm>
            <a:off x="6031075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79" name="Google Shape;179;p17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80" name="Google Shape;180;p1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2" name="Google Shape;182;p17"/>
          <p:cNvSpPr/>
          <p:nvPr/>
        </p:nvSpPr>
        <p:spPr>
          <a:xfrm rot="10800000" flipH="1">
            <a:off x="-1760700" y="413105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83" name="Google Shape;183;p17"/>
          <p:cNvGrpSpPr/>
          <p:nvPr/>
        </p:nvGrpSpPr>
        <p:grpSpPr>
          <a:xfrm>
            <a:off x="236675" y="3018575"/>
            <a:ext cx="8451400" cy="2369425"/>
            <a:chOff x="236675" y="3018575"/>
            <a:chExt cx="8451400" cy="2369425"/>
          </a:xfrm>
        </p:grpSpPr>
        <p:sp>
          <p:nvSpPr>
            <p:cNvPr id="184" name="Google Shape;184;p17"/>
            <p:cNvSpPr/>
            <p:nvPr/>
          </p:nvSpPr>
          <p:spPr>
            <a:xfrm>
              <a:off x="236675" y="42887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720000" y="480120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236675" y="30185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8536575" y="42125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7924875" y="480120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ubTitle" idx="1"/>
          </p:nvPr>
        </p:nvSpPr>
        <p:spPr>
          <a:xfrm>
            <a:off x="1067574" y="1671136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2"/>
          </p:nvPr>
        </p:nvSpPr>
        <p:spPr>
          <a:xfrm>
            <a:off x="4828026" y="1671136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3"/>
          </p:nvPr>
        </p:nvSpPr>
        <p:spPr>
          <a:xfrm>
            <a:off x="1067574" y="3328004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4"/>
          </p:nvPr>
        </p:nvSpPr>
        <p:spPr>
          <a:xfrm>
            <a:off x="4828026" y="3328004"/>
            <a:ext cx="3248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ubTitle" idx="5"/>
          </p:nvPr>
        </p:nvSpPr>
        <p:spPr>
          <a:xfrm>
            <a:off x="1067574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subTitle" idx="6"/>
          </p:nvPr>
        </p:nvSpPr>
        <p:spPr>
          <a:xfrm>
            <a:off x="1067574" y="29913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subTitle" idx="7"/>
          </p:nvPr>
        </p:nvSpPr>
        <p:spPr>
          <a:xfrm>
            <a:off x="4827998" y="13305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subTitle" idx="8"/>
          </p:nvPr>
        </p:nvSpPr>
        <p:spPr>
          <a:xfrm>
            <a:off x="4827998" y="2991375"/>
            <a:ext cx="3248400" cy="41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99" name="Google Shape;199;p18"/>
          <p:cNvGrpSpPr/>
          <p:nvPr/>
        </p:nvGrpSpPr>
        <p:grpSpPr>
          <a:xfrm rot="10800000"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00" name="Google Shape;200;p1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1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2" name="Google Shape;202;p18"/>
          <p:cNvGrpSpPr/>
          <p:nvPr/>
        </p:nvGrpSpPr>
        <p:grpSpPr>
          <a:xfrm>
            <a:off x="7142850" y="2050250"/>
            <a:ext cx="2190675" cy="2839050"/>
            <a:chOff x="7142850" y="2050250"/>
            <a:chExt cx="2190675" cy="2839050"/>
          </a:xfrm>
        </p:grpSpPr>
        <p:sp>
          <p:nvSpPr>
            <p:cNvPr id="203" name="Google Shape;203;p18"/>
            <p:cNvSpPr/>
            <p:nvPr/>
          </p:nvSpPr>
          <p:spPr>
            <a:xfrm rot="10800000">
              <a:off x="7142850" y="47378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 rot="10800000">
              <a:off x="8746725" y="33077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rot="10800000">
              <a:off x="8926725" y="26588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 rot="10800000">
              <a:off x="8746725" y="20502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7" name="Google Shape;207;p18"/>
            <p:cNvSpPr/>
            <p:nvPr/>
          </p:nvSpPr>
          <p:spPr>
            <a:xfrm rot="10800000">
              <a:off x="8668425" y="43217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08" name="Google Shape;208;p18"/>
          <p:cNvSpPr/>
          <p:nvPr/>
        </p:nvSpPr>
        <p:spPr>
          <a:xfrm rot="10800000" flipH="1">
            <a:off x="8237200" y="389452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1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2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3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4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5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6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7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8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9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3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14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5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24" name="Google Shape;224;p1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6" name="Google Shape;226;p19"/>
          <p:cNvSpPr/>
          <p:nvPr/>
        </p:nvSpPr>
        <p:spPr>
          <a:xfrm rot="10800000" flipH="1">
            <a:off x="2478750" y="-38629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228" name="Google Shape;228;p19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 txBox="1">
            <a:spLocks noGrp="1"/>
          </p:cNvSpPr>
          <p:nvPr>
            <p:ph type="title" hasCustomPrompt="1"/>
          </p:nvPr>
        </p:nvSpPr>
        <p:spPr>
          <a:xfrm>
            <a:off x="798388" y="2052000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1"/>
          </p:nvPr>
        </p:nvSpPr>
        <p:spPr>
          <a:xfrm>
            <a:off x="798400" y="2820924"/>
            <a:ext cx="3492600" cy="3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539489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3"/>
          </p:nvPr>
        </p:nvSpPr>
        <p:spPr>
          <a:xfrm>
            <a:off x="2825700" y="1308400"/>
            <a:ext cx="3492600" cy="3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052000"/>
            <a:ext cx="3492600" cy="7689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5"/>
          </p:nvPr>
        </p:nvSpPr>
        <p:spPr>
          <a:xfrm>
            <a:off x="4853025" y="2820924"/>
            <a:ext cx="3492600" cy="3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 rot="10800000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1" name="Google Shape;241;p20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3" name="Google Shape;243;p20"/>
          <p:cNvSpPr/>
          <p:nvPr/>
        </p:nvSpPr>
        <p:spPr>
          <a:xfrm rot="10800000">
            <a:off x="424075" y="3346675"/>
            <a:ext cx="151500" cy="15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>
            <a:spLocks noGrp="1"/>
          </p:cNvSpPr>
          <p:nvPr>
            <p:ph type="title"/>
          </p:nvPr>
        </p:nvSpPr>
        <p:spPr>
          <a:xfrm>
            <a:off x="713225" y="732088"/>
            <a:ext cx="3604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1"/>
          <p:cNvSpPr txBox="1">
            <a:spLocks noGrp="1"/>
          </p:cNvSpPr>
          <p:nvPr>
            <p:ph type="subTitle" idx="1"/>
          </p:nvPr>
        </p:nvSpPr>
        <p:spPr>
          <a:xfrm>
            <a:off x="713225" y="1689338"/>
            <a:ext cx="36048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47" name="Google Shape;247;p21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48" name="Google Shape;248;p2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9" name="Google Shape;249;p2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50" name="Google Shape;250;p21"/>
          <p:cNvGrpSpPr/>
          <p:nvPr/>
        </p:nvGrpSpPr>
        <p:grpSpPr>
          <a:xfrm>
            <a:off x="3387100" y="-71975"/>
            <a:ext cx="5381150" cy="3835450"/>
            <a:chOff x="3387100" y="-71975"/>
            <a:chExt cx="5381150" cy="3835450"/>
          </a:xfrm>
        </p:grpSpPr>
        <p:sp>
          <p:nvSpPr>
            <p:cNvPr id="251" name="Google Shape;251;p21"/>
            <p:cNvSpPr/>
            <p:nvPr/>
          </p:nvSpPr>
          <p:spPr>
            <a:xfrm rot="10800000">
              <a:off x="5454575" y="1938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 rot="10800000">
              <a:off x="8167300" y="230575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 rot="10800000">
              <a:off x="3387100" y="-71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rot="10800000">
              <a:off x="8616750" y="36119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55" name="Google Shape;255;p21"/>
          <p:cNvSpPr txBox="1"/>
          <p:nvPr/>
        </p:nvSpPr>
        <p:spPr>
          <a:xfrm>
            <a:off x="713225" y="3352938"/>
            <a:ext cx="3604800" cy="6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1000" b="1" u="sng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2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258" name="Google Shape;258;p22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63" name="Google Shape;263;p22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64" name="Google Shape;264;p2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2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3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268" name="Google Shape;268;p23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274" name="Google Shape;274;p2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>
            <a:spLocks noGrp="1"/>
          </p:cNvSpPr>
          <p:nvPr>
            <p:ph type="ctrTitle"/>
          </p:nvPr>
        </p:nvSpPr>
        <p:spPr>
          <a:xfrm>
            <a:off x="3898750" y="642000"/>
            <a:ext cx="4532100" cy="26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1"/>
              <a:t>Análise de Impacto Financeiro de Erros em Movimentações de Estoque</a:t>
            </a:r>
            <a:endParaRPr sz="4100" b="1"/>
          </a:p>
        </p:txBody>
      </p:sp>
      <p:sp>
        <p:nvSpPr>
          <p:cNvPr id="281" name="Google Shape;281;p24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Estudo baseado em dados simulados</a:t>
            </a:r>
            <a:endParaRPr/>
          </a:p>
        </p:txBody>
      </p:sp>
      <p:pic>
        <p:nvPicPr>
          <p:cNvPr id="282" name="Google Shape;2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88" y="757212"/>
            <a:ext cx="3117649" cy="356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9" name="Google Shape;299;p26"/>
          <p:cNvSpPr txBox="1">
            <a:spLocks noGrp="1"/>
          </p:cNvSpPr>
          <p:nvPr>
            <p:ph type="title"/>
          </p:nvPr>
        </p:nvSpPr>
        <p:spPr>
          <a:xfrm>
            <a:off x="4603075" y="2217600"/>
            <a:ext cx="3981900" cy="9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Introdução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00" name="Google Shape;300;p26"/>
          <p:cNvSpPr txBox="1">
            <a:spLocks noGrp="1"/>
          </p:cNvSpPr>
          <p:nvPr>
            <p:ph type="title" idx="2"/>
          </p:nvPr>
        </p:nvSpPr>
        <p:spPr>
          <a:xfrm>
            <a:off x="5856775" y="11408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01" name="Google Shape;301;p26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02" name="Google Shape;302;p26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304" name="Google Shape;3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425" y="1140849"/>
            <a:ext cx="3524400" cy="286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>
            <a:spLocks noGrp="1"/>
          </p:cNvSpPr>
          <p:nvPr>
            <p:ph type="ctrTitle"/>
          </p:nvPr>
        </p:nvSpPr>
        <p:spPr>
          <a:xfrm>
            <a:off x="1119300" y="530000"/>
            <a:ext cx="6905400" cy="72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b="1"/>
              <a:t>Gestão eficiente de estoques</a:t>
            </a:r>
            <a:endParaRPr sz="4100" b="1"/>
          </a:p>
        </p:txBody>
      </p:sp>
      <p:sp>
        <p:nvSpPr>
          <p:cNvPr id="310" name="Google Shape;310;p27"/>
          <p:cNvSpPr txBox="1">
            <a:spLocks noGrp="1"/>
          </p:cNvSpPr>
          <p:nvPr>
            <p:ph type="subTitle" idx="1"/>
          </p:nvPr>
        </p:nvSpPr>
        <p:spPr>
          <a:xfrm>
            <a:off x="2305950" y="1433400"/>
            <a:ext cx="4532100" cy="227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gestão eficiente de estoques é essencial para o equilíbrio financeiro de qualquer operação.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 estudo, simulamos o impacto financeiro causado por erros nas quantidades de saída do estoque, analisando como pequenas variações podem se acumular e gerar prejuízos significativos ao longo do tempo.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4580675" y="2038800"/>
            <a:ext cx="39819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Base de Dados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2"/>
          </p:nvPr>
        </p:nvSpPr>
        <p:spPr>
          <a:xfrm>
            <a:off x="5834375" y="9620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18" name="Google Shape;318;p28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19" name="Google Shape;319;p28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321" name="Google Shape;3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220" y="945175"/>
            <a:ext cx="1872803" cy="325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>
            <a:spLocks noGrp="1"/>
          </p:cNvSpPr>
          <p:nvPr>
            <p:ph type="subTitle" idx="2"/>
          </p:nvPr>
        </p:nvSpPr>
        <p:spPr>
          <a:xfrm>
            <a:off x="979025" y="1332450"/>
            <a:ext cx="3012600" cy="24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análise foi realizada com base em uma base de dados simulada, contendo registros de movimentações de estoque.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Foram consideradas exclusivamente as movimentações de saída, pois são elas que geram impacto direto nos custos.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Cada registro inclui informações como: Data da movimentação, Unidade de origem, Material movimentado e Quantidade e custo unitário.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9"/>
          <p:cNvSpPr txBox="1">
            <a:spLocks noGrp="1"/>
          </p:cNvSpPr>
          <p:nvPr>
            <p:ph type="subTitle" idx="3"/>
          </p:nvPr>
        </p:nvSpPr>
        <p:spPr>
          <a:xfrm>
            <a:off x="979025" y="866100"/>
            <a:ext cx="3365700" cy="4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Como criamos ?</a:t>
            </a:r>
            <a:endParaRPr sz="3000"/>
          </a:p>
        </p:txBody>
      </p:sp>
      <p:sp>
        <p:nvSpPr>
          <p:cNvPr id="328" name="Google Shape;328;p29"/>
          <p:cNvSpPr/>
          <p:nvPr/>
        </p:nvSpPr>
        <p:spPr>
          <a:xfrm rot="10800000" flipH="1">
            <a:off x="5620375" y="31867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9" name="Google Shape;329;p29"/>
          <p:cNvSpPr/>
          <p:nvPr/>
        </p:nvSpPr>
        <p:spPr>
          <a:xfrm rot="10800000">
            <a:off x="7893450" y="1329950"/>
            <a:ext cx="226800" cy="22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0" name="Google Shape;330;p29"/>
          <p:cNvSpPr/>
          <p:nvPr/>
        </p:nvSpPr>
        <p:spPr>
          <a:xfrm rot="10800000">
            <a:off x="827525" y="4317350"/>
            <a:ext cx="151500" cy="151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31" name="Google Shape;3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625" y="1810125"/>
            <a:ext cx="4249926" cy="1123200"/>
          </a:xfrm>
          <a:prstGeom prst="rect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4580675" y="2038800"/>
            <a:ext cx="39819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Cálculo do Z-Score e IQR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8" name="Google Shape;338;p30"/>
          <p:cNvSpPr txBox="1">
            <a:spLocks noGrp="1"/>
          </p:cNvSpPr>
          <p:nvPr>
            <p:ph type="title" idx="2"/>
          </p:nvPr>
        </p:nvSpPr>
        <p:spPr>
          <a:xfrm>
            <a:off x="5834375" y="9620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39" name="Google Shape;339;p30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40" name="Google Shape;340;p30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342" name="Google Shape;3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125" y="1264100"/>
            <a:ext cx="3333000" cy="26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82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Detecção de Comportamentos Atípicos</a:t>
            </a:r>
            <a:endParaRPr/>
          </a:p>
        </p:txBody>
      </p:sp>
      <p:sp>
        <p:nvSpPr>
          <p:cNvPr id="348" name="Google Shape;348;p31"/>
          <p:cNvSpPr txBox="1">
            <a:spLocks noGrp="1"/>
          </p:cNvSpPr>
          <p:nvPr>
            <p:ph type="subTitle" idx="4"/>
          </p:nvPr>
        </p:nvSpPr>
        <p:spPr>
          <a:xfrm>
            <a:off x="1595125" y="1664175"/>
            <a:ext cx="2413800" cy="37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Valores fora do padrão</a:t>
            </a:r>
            <a:endParaRPr/>
          </a:p>
        </p:txBody>
      </p:sp>
      <p:sp>
        <p:nvSpPr>
          <p:cNvPr id="349" name="Google Shape;349;p31"/>
          <p:cNvSpPr txBox="1">
            <a:spLocks noGrp="1"/>
          </p:cNvSpPr>
          <p:nvPr>
            <p:ph type="subTitle" idx="5"/>
          </p:nvPr>
        </p:nvSpPr>
        <p:spPr>
          <a:xfrm>
            <a:off x="5345075" y="1664125"/>
            <a:ext cx="1679700" cy="37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Desvio padrão</a:t>
            </a:r>
            <a:endParaRPr/>
          </a:p>
        </p:txBody>
      </p:sp>
      <p:sp>
        <p:nvSpPr>
          <p:cNvPr id="350" name="Google Shape;350;p31"/>
          <p:cNvSpPr txBox="1">
            <a:spLocks noGrp="1"/>
          </p:cNvSpPr>
          <p:nvPr>
            <p:ph type="subTitle" idx="1"/>
          </p:nvPr>
        </p:nvSpPr>
        <p:spPr>
          <a:xfrm>
            <a:off x="720000" y="1092063"/>
            <a:ext cx="78201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garantir a integridade da análise, identificamos valores fora do padrão nas quantidades de saída dos materiais. Utilizamos dois métodos estatísticos: Z-Score e IQR</a:t>
            </a:r>
            <a:endParaRPr/>
          </a:p>
        </p:txBody>
      </p:sp>
      <p:pic>
        <p:nvPicPr>
          <p:cNvPr id="351" name="Google Shape;35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138" y="2042780"/>
            <a:ext cx="2939775" cy="299047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2" name="Google Shape;35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8025" y="2042763"/>
            <a:ext cx="2413800" cy="1415787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>
            <a:spLocks noGrp="1"/>
          </p:cNvSpPr>
          <p:nvPr>
            <p:ph type="title"/>
          </p:nvPr>
        </p:nvSpPr>
        <p:spPr>
          <a:xfrm>
            <a:off x="936450" y="445000"/>
            <a:ext cx="7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da variação IQR</a:t>
            </a:r>
            <a:endParaRPr/>
          </a:p>
        </p:txBody>
      </p:sp>
      <p:pic>
        <p:nvPicPr>
          <p:cNvPr id="358" name="Google Shape;358;p32" title="image_2025-05-27_124317260.png"/>
          <p:cNvPicPr preferRelativeResize="0"/>
          <p:nvPr/>
        </p:nvPicPr>
        <p:blipFill rotWithShape="1">
          <a:blip r:embed="rId3">
            <a:alphaModFix/>
          </a:blip>
          <a:srcRect t="39" b="39"/>
          <a:stretch/>
        </p:blipFill>
        <p:spPr>
          <a:xfrm>
            <a:off x="1449975" y="1248951"/>
            <a:ext cx="6244025" cy="309577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4580675" y="2038800"/>
            <a:ext cx="39819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Cálculo do Impacto Financeiro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65" name="Google Shape;365;p33"/>
          <p:cNvSpPr txBox="1">
            <a:spLocks noGrp="1"/>
          </p:cNvSpPr>
          <p:nvPr>
            <p:ph type="title" idx="2"/>
          </p:nvPr>
        </p:nvSpPr>
        <p:spPr>
          <a:xfrm>
            <a:off x="5834375" y="9620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66" name="Google Shape;366;p33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367" name="Google Shape;367;p33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68" name="Google Shape;368;p33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369" name="Google Shape;3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050" y="1183213"/>
            <a:ext cx="3267150" cy="277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82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Metodologia de Cálculo do Impacto Financeiro</a:t>
            </a:r>
            <a:endParaRPr/>
          </a:p>
        </p:txBody>
      </p:sp>
      <p:sp>
        <p:nvSpPr>
          <p:cNvPr id="375" name="Google Shape;375;p34"/>
          <p:cNvSpPr txBox="1">
            <a:spLocks noGrp="1"/>
          </p:cNvSpPr>
          <p:nvPr>
            <p:ph type="subTitle" idx="4"/>
          </p:nvPr>
        </p:nvSpPr>
        <p:spPr>
          <a:xfrm>
            <a:off x="937625" y="1664100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 Acumulado</a:t>
            </a:r>
            <a:endParaRPr/>
          </a:p>
        </p:txBody>
      </p:sp>
      <p:sp>
        <p:nvSpPr>
          <p:cNvPr id="376" name="Google Shape;376;p34"/>
          <p:cNvSpPr txBox="1">
            <a:spLocks noGrp="1"/>
          </p:cNvSpPr>
          <p:nvPr>
            <p:ph type="subTitle" idx="5"/>
          </p:nvPr>
        </p:nvSpPr>
        <p:spPr>
          <a:xfrm>
            <a:off x="3798450" y="1664125"/>
            <a:ext cx="15471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Mensal</a:t>
            </a:r>
            <a:endParaRPr/>
          </a:p>
        </p:txBody>
      </p:sp>
      <p:sp>
        <p:nvSpPr>
          <p:cNvPr id="377" name="Google Shape;377;p34"/>
          <p:cNvSpPr txBox="1">
            <a:spLocks noGrp="1"/>
          </p:cNvSpPr>
          <p:nvPr>
            <p:ph type="subTitle" idx="6"/>
          </p:nvPr>
        </p:nvSpPr>
        <p:spPr>
          <a:xfrm>
            <a:off x="6031075" y="1664125"/>
            <a:ext cx="1680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de saídas</a:t>
            </a:r>
            <a:endParaRPr/>
          </a:p>
        </p:txBody>
      </p:sp>
      <p:sp>
        <p:nvSpPr>
          <p:cNvPr id="378" name="Google Shape;378;p34"/>
          <p:cNvSpPr txBox="1">
            <a:spLocks noGrp="1"/>
          </p:cNvSpPr>
          <p:nvPr>
            <p:ph type="subTitle" idx="1"/>
          </p:nvPr>
        </p:nvSpPr>
        <p:spPr>
          <a:xfrm>
            <a:off x="720000" y="1092063"/>
            <a:ext cx="78201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 avaliar o risco de erros operacionais nas saídas de materiais, realizamos simulações aplicando desvios de 10% a 50% sobre as quantidades registradas.</a:t>
            </a:r>
            <a:endParaRPr/>
          </a:p>
        </p:txBody>
      </p:sp>
      <p:pic>
        <p:nvPicPr>
          <p:cNvPr id="379" name="Google Shape;3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838" y="2191425"/>
            <a:ext cx="1615775" cy="2687449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0" name="Google Shape;3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6450" y="2191475"/>
            <a:ext cx="1291125" cy="109077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81" name="Google Shape;38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4563" y="2191475"/>
            <a:ext cx="2113325" cy="8453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>
            <a:spLocks noGrp="1"/>
          </p:cNvSpPr>
          <p:nvPr>
            <p:ph type="title"/>
          </p:nvPr>
        </p:nvSpPr>
        <p:spPr>
          <a:xfrm>
            <a:off x="936450" y="445000"/>
            <a:ext cx="7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 do Impacto Financeiro Acumulado</a:t>
            </a:r>
            <a:endParaRPr/>
          </a:p>
        </p:txBody>
      </p:sp>
      <p:pic>
        <p:nvPicPr>
          <p:cNvPr id="387" name="Google Shape;38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975" y="1248951"/>
            <a:ext cx="6244025" cy="309577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>
            <a:spLocks noGrp="1"/>
          </p:cNvSpPr>
          <p:nvPr>
            <p:ph type="title"/>
          </p:nvPr>
        </p:nvSpPr>
        <p:spPr>
          <a:xfrm>
            <a:off x="936450" y="445000"/>
            <a:ext cx="727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Gráficos de Saída e Custo Mensal</a:t>
            </a:r>
            <a:endParaRPr/>
          </a:p>
        </p:txBody>
      </p:sp>
      <p:pic>
        <p:nvPicPr>
          <p:cNvPr id="393" name="Google Shape;3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50" y="1752663"/>
            <a:ext cx="3722025" cy="22204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4" name="Google Shape;39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149" y="1752675"/>
            <a:ext cx="4060876" cy="2220425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5" name="Google Shape;395;p36"/>
          <p:cNvSpPr txBox="1">
            <a:spLocks noGrp="1"/>
          </p:cNvSpPr>
          <p:nvPr>
            <p:ph type="subTitle" idx="4"/>
          </p:nvPr>
        </p:nvSpPr>
        <p:spPr>
          <a:xfrm>
            <a:off x="1408809" y="1158688"/>
            <a:ext cx="15675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de Sáida</a:t>
            </a:r>
            <a:endParaRPr/>
          </a:p>
        </p:txBody>
      </p:sp>
      <p:sp>
        <p:nvSpPr>
          <p:cNvPr id="396" name="Google Shape;396;p36"/>
          <p:cNvSpPr txBox="1">
            <a:spLocks noGrp="1"/>
          </p:cNvSpPr>
          <p:nvPr>
            <p:ph type="subTitle" idx="4"/>
          </p:nvPr>
        </p:nvSpPr>
        <p:spPr>
          <a:xfrm>
            <a:off x="5574938" y="1158675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Real Mensal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02" name="Google Shape;402;p37"/>
          <p:cNvSpPr txBox="1">
            <a:spLocks noGrp="1"/>
          </p:cNvSpPr>
          <p:nvPr>
            <p:ph type="title"/>
          </p:nvPr>
        </p:nvSpPr>
        <p:spPr>
          <a:xfrm>
            <a:off x="4580675" y="2038800"/>
            <a:ext cx="39819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Resumo das Análises Realizadas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03" name="Google Shape;403;p37"/>
          <p:cNvSpPr txBox="1">
            <a:spLocks noGrp="1"/>
          </p:cNvSpPr>
          <p:nvPr>
            <p:ph type="title" idx="2"/>
          </p:nvPr>
        </p:nvSpPr>
        <p:spPr>
          <a:xfrm>
            <a:off x="5834375" y="9620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404" name="Google Shape;404;p37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405" name="Google Shape;405;p37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407" name="Google Shape;4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34" y="1218136"/>
            <a:ext cx="3664600" cy="27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Visão Geral da Análise de Dados</a:t>
            </a:r>
            <a:endParaRPr/>
          </a:p>
        </p:txBody>
      </p:sp>
      <p:sp>
        <p:nvSpPr>
          <p:cNvPr id="413" name="Google Shape;413;p38"/>
          <p:cNvSpPr txBox="1">
            <a:spLocks noGrp="1"/>
          </p:cNvSpPr>
          <p:nvPr>
            <p:ph type="subTitle" idx="1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Identificamos variações de gastos ao longo dos meses, possibilitando comparações temporais.</a:t>
            </a:r>
            <a:endParaRPr/>
          </a:p>
        </p:txBody>
      </p:sp>
      <p:sp>
        <p:nvSpPr>
          <p:cNvPr id="414" name="Google Shape;414;p38"/>
          <p:cNvSpPr txBox="1">
            <a:spLocks noGrp="1"/>
          </p:cNvSpPr>
          <p:nvPr>
            <p:ph type="subTitle" idx="2"/>
          </p:nvPr>
        </p:nvSpPr>
        <p:spPr>
          <a:xfrm>
            <a:off x="3455250" y="33316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Avaliamos a média e o desvio padrão de saída por item, apoiando o controle de estoque.</a:t>
            </a:r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subTitle" idx="3"/>
          </p:nvPr>
        </p:nvSpPr>
        <p:spPr>
          <a:xfrm>
            <a:off x="3455250" y="15677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Projetamos diferentes cenários de erro nas quantidades registradas e calculamos seu impacto acumulado nos custos.</a:t>
            </a: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7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 Mensal Real</a:t>
            </a:r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8"/>
          </p:nvPr>
        </p:nvSpPr>
        <p:spPr>
          <a:xfrm>
            <a:off x="3263850" y="3027775"/>
            <a:ext cx="26163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Estatísticas por Material</a:t>
            </a:r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9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Outliers e Z-score</a:t>
            </a:r>
            <a:endParaRPr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5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Detectamos movimentações atípicas que poderiam indicar erros de registro ou casos fora do padrão.</a:t>
            </a:r>
            <a:endParaRPr/>
          </a:p>
        </p:txBody>
      </p:sp>
      <p:sp>
        <p:nvSpPr>
          <p:cNvPr id="420" name="Google Shape;420;p38"/>
          <p:cNvSpPr txBox="1">
            <a:spLocks noGrp="1"/>
          </p:cNvSpPr>
          <p:nvPr>
            <p:ph type="subTitle" idx="13"/>
          </p:nvPr>
        </p:nvSpPr>
        <p:spPr>
          <a:xfrm>
            <a:off x="3455250" y="126370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Simulação de Erros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9"/>
          <p:cNvSpPr/>
          <p:nvPr/>
        </p:nvSpPr>
        <p:spPr>
          <a:xfrm>
            <a:off x="-2226625" y="14478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6" name="Google Shape;426;p39"/>
          <p:cNvSpPr txBox="1">
            <a:spLocks noGrp="1"/>
          </p:cNvSpPr>
          <p:nvPr>
            <p:ph type="title"/>
          </p:nvPr>
        </p:nvSpPr>
        <p:spPr>
          <a:xfrm>
            <a:off x="4573200" y="2136950"/>
            <a:ext cx="39819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Sofia Sans"/>
                <a:ea typeface="Sofia Sans"/>
                <a:cs typeface="Sofia Sans"/>
                <a:sym typeface="Sofia Sans"/>
              </a:rPr>
              <a:t>Conclusão</a:t>
            </a:r>
            <a:endParaRPr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427" name="Google Shape;427;p39"/>
          <p:cNvSpPr txBox="1">
            <a:spLocks noGrp="1"/>
          </p:cNvSpPr>
          <p:nvPr>
            <p:ph type="title" idx="2"/>
          </p:nvPr>
        </p:nvSpPr>
        <p:spPr>
          <a:xfrm>
            <a:off x="5826900" y="106018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428" name="Google Shape;428;p39"/>
          <p:cNvGrpSpPr/>
          <p:nvPr/>
        </p:nvGrpSpPr>
        <p:grpSpPr>
          <a:xfrm>
            <a:off x="1808250" y="703950"/>
            <a:ext cx="1272750" cy="1059825"/>
            <a:chOff x="1808250" y="703950"/>
            <a:chExt cx="1272750" cy="1059825"/>
          </a:xfrm>
        </p:grpSpPr>
        <p:sp>
          <p:nvSpPr>
            <p:cNvPr id="429" name="Google Shape;429;p39"/>
            <p:cNvSpPr/>
            <p:nvPr/>
          </p:nvSpPr>
          <p:spPr>
            <a:xfrm>
              <a:off x="1808250" y="703950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2854200" y="153697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431" name="Google Shape;43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100" y="1060188"/>
            <a:ext cx="3369049" cy="302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 txBox="1">
            <a:spLocks noGrp="1"/>
          </p:cNvSpPr>
          <p:nvPr>
            <p:ph type="title"/>
          </p:nvPr>
        </p:nvSpPr>
        <p:spPr>
          <a:xfrm>
            <a:off x="1162050" y="161375"/>
            <a:ext cx="681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 da Análise de Movimentações e Custos</a:t>
            </a:r>
            <a:endParaRPr/>
          </a:p>
        </p:txBody>
      </p:sp>
      <p:sp>
        <p:nvSpPr>
          <p:cNvPr id="437" name="Google Shape;437;p40"/>
          <p:cNvSpPr txBox="1">
            <a:spLocks noGrp="1"/>
          </p:cNvSpPr>
          <p:nvPr>
            <p:ph type="subTitle" idx="1"/>
          </p:nvPr>
        </p:nvSpPr>
        <p:spPr>
          <a:xfrm>
            <a:off x="6024450" y="1508500"/>
            <a:ext cx="2233500" cy="14220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simulação de erros de 10% a 50% nas quantidades movimentadas evidenciou impactos acumulados expressivos no custo total, reforçando a necessidade de precisão nos registros.</a:t>
            </a:r>
            <a:endParaRPr/>
          </a:p>
        </p:txBody>
      </p:sp>
      <p:sp>
        <p:nvSpPr>
          <p:cNvPr id="438" name="Google Shape;438;p40"/>
          <p:cNvSpPr txBox="1">
            <a:spLocks noGrp="1"/>
          </p:cNvSpPr>
          <p:nvPr>
            <p:ph type="subTitle" idx="2"/>
          </p:nvPr>
        </p:nvSpPr>
        <p:spPr>
          <a:xfrm>
            <a:off x="3455238" y="1508500"/>
            <a:ext cx="2233500" cy="15579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Foi possível verificar que pequenas falhas recorrentes podem resultar em grandes prejuízos ao longo do tempo, especialmente quando não há mecanismos de correção ou monitoramento em tempo real.</a:t>
            </a:r>
            <a:endParaRPr/>
          </a:p>
        </p:txBody>
      </p:sp>
      <p:sp>
        <p:nvSpPr>
          <p:cNvPr id="439" name="Google Shape;439;p40"/>
          <p:cNvSpPr txBox="1">
            <a:spLocks noGrp="1"/>
          </p:cNvSpPr>
          <p:nvPr>
            <p:ph type="subTitle" idx="3"/>
          </p:nvPr>
        </p:nvSpPr>
        <p:spPr>
          <a:xfrm>
            <a:off x="886050" y="1508500"/>
            <a:ext cx="2233500" cy="15579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análise de outliers com base no Z-score e no método IQR identificou movimentações fora do padrão, possivelmente decorrentes de erros de digitação ou falhas operacionais.</a:t>
            </a:r>
            <a:endParaRPr/>
          </a:p>
        </p:txBody>
      </p:sp>
      <p:sp>
        <p:nvSpPr>
          <p:cNvPr id="440" name="Google Shape;440;p40"/>
          <p:cNvSpPr txBox="1">
            <a:spLocks noGrp="1"/>
          </p:cNvSpPr>
          <p:nvPr>
            <p:ph type="subTitle" idx="5"/>
          </p:nvPr>
        </p:nvSpPr>
        <p:spPr>
          <a:xfrm>
            <a:off x="886050" y="3300126"/>
            <a:ext cx="2233500" cy="14220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dispersão no consumo de alguns materiais também foi evidenciada por altos desvios padrão, apontando para inconsistências na demanda ou má gestão de estoque.</a:t>
            </a:r>
            <a:endParaRPr/>
          </a:p>
        </p:txBody>
      </p:sp>
      <p:sp>
        <p:nvSpPr>
          <p:cNvPr id="441" name="Google Shape;441;p40"/>
          <p:cNvSpPr txBox="1">
            <a:spLocks noGrp="1"/>
          </p:cNvSpPr>
          <p:nvPr>
            <p:ph type="subTitle" idx="2"/>
          </p:nvPr>
        </p:nvSpPr>
        <p:spPr>
          <a:xfrm>
            <a:off x="3455250" y="3300125"/>
            <a:ext cx="2233500" cy="1071300"/>
          </a:xfrm>
          <a:prstGeom prst="rect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análise permitiu não só identificar os erros já ocorridos, mas também prever cenários de risco com base em variações realistas.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1"/>
          <p:cNvSpPr/>
          <p:nvPr/>
        </p:nvSpPr>
        <p:spPr>
          <a:xfrm rot="10800000" flipH="1">
            <a:off x="4065425" y="354872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47" name="Google Shape;447;p41"/>
          <p:cNvSpPr txBox="1">
            <a:spLocks noGrp="1"/>
          </p:cNvSpPr>
          <p:nvPr>
            <p:ph type="subTitle" idx="4294967295"/>
          </p:nvPr>
        </p:nvSpPr>
        <p:spPr>
          <a:xfrm>
            <a:off x="2579850" y="1907400"/>
            <a:ext cx="3984300" cy="13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latin typeface="Sofia Sans"/>
                <a:ea typeface="Sofia Sans"/>
                <a:cs typeface="Sofia Sans"/>
                <a:sym typeface="Sofia Sans"/>
              </a:rPr>
              <a:t>Obrigado !</a:t>
            </a:r>
            <a:endParaRPr sz="7000"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On-screen Show (16:9)</PresentationFormat>
  <Paragraphs>54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Raleway</vt:lpstr>
      <vt:lpstr>Libre Franklin</vt:lpstr>
      <vt:lpstr>PT Sans</vt:lpstr>
      <vt:lpstr>Nunito Light</vt:lpstr>
      <vt:lpstr>Sofia Sans SemiBold</vt:lpstr>
      <vt:lpstr>Sofia Sans</vt:lpstr>
      <vt:lpstr>Open Sans</vt:lpstr>
      <vt:lpstr>Big Data Analytics Project Proposal by Slidesgo</vt:lpstr>
      <vt:lpstr>Análise de Impacto Financeiro de Erros em Movimentações de Estoque</vt:lpstr>
      <vt:lpstr>Introdução</vt:lpstr>
      <vt:lpstr>Gestão eficiente de estoques</vt:lpstr>
      <vt:lpstr>Base de Dados</vt:lpstr>
      <vt:lpstr>PowerPoint Presentation</vt:lpstr>
      <vt:lpstr>Cálculo do Z-Score e IQR</vt:lpstr>
      <vt:lpstr>Detecção de Comportamentos Atípicos</vt:lpstr>
      <vt:lpstr>Gráfico da variação IQR</vt:lpstr>
      <vt:lpstr>Cálculo do Impacto Financeiro</vt:lpstr>
      <vt:lpstr>Metodologia de Cálculo do Impacto Financeiro</vt:lpstr>
      <vt:lpstr>Gráfico do Impacto Financeiro Acumulado</vt:lpstr>
      <vt:lpstr>Gráficos de Saída e Custo Mensal</vt:lpstr>
      <vt:lpstr>Resumo das Análises Realizadas</vt:lpstr>
      <vt:lpstr>Visão Geral da Análise de Dados</vt:lpstr>
      <vt:lpstr>Conclusão</vt:lpstr>
      <vt:lpstr>Conclusões da Análise de Movimentações e Custos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Impacto Financeiro de Erros em Movimentações de Estoque</dc:title>
  <cp:lastModifiedBy>Laboratório FIAP</cp:lastModifiedBy>
  <cp:revision>1</cp:revision>
  <dcterms:modified xsi:type="dcterms:W3CDTF">2026-03-18T00:59:04Z</dcterms:modified>
</cp:coreProperties>
</file>